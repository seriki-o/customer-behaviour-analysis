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409033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410717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STAKEHOLDER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734567"/>
            <a:ext cx="10626328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Customer Behaviour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94633"/>
            <a:ext cx="6762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Understanding purchasing patterns, revenue drivers and customer engagement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295400"/>
            <a:ext cx="249555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86150" y="1295400"/>
            <a:ext cx="249555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295400"/>
            <a:ext cx="249555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34450" y="1295400"/>
            <a:ext cx="249555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2828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2828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2000" y="3499246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1250" y="3499246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6096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1533525"/>
            <a:ext cx="252412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$233,081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000250"/>
            <a:ext cx="252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4275" y="1533525"/>
            <a:ext cx="252412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3,900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4275" y="2000250"/>
            <a:ext cx="252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1533525"/>
            <a:ext cx="252412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$59.76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2000250"/>
            <a:ext cx="252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Average Purchase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2575" y="1533525"/>
            <a:ext cx="252412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27%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2575" y="2000250"/>
            <a:ext cx="252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Subscription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2752725"/>
            <a:ext cx="5143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Clothing was the strongest revenue category, generating $104,264.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750" y="2752725"/>
            <a:ext cx="550068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Fall recorded the highest seasonal revenue, at $60,018.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3423046"/>
            <a:ext cx="5143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Non-discounted purchases generated more total revenue than discounted purchases.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750" y="3423046"/>
            <a:ext cx="5143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Repeat buyers had a higher subscription rate than non-repeat buyers.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895475"/>
            <a:ext cx="5143500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829050"/>
            <a:ext cx="5143500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2538412"/>
            <a:ext cx="5143500" cy="1064865"/>
          </a:xfrm>
          <a:prstGeom prst="roundRect">
            <a:avLst>
              <a:gd name="adj" fmla="val 107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86500" y="3831877"/>
            <a:ext cx="5143500" cy="109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86500" y="3831877"/>
            <a:ext cx="38100" cy="10971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6096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What Is Driving Revenue?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095500"/>
            <a:ext cx="62257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Revenue by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029075"/>
            <a:ext cx="62257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Revenue by Season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776537"/>
            <a:ext cx="5667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Leading Products by Purchase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090862"/>
            <a:ext cx="566737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Blouse, Shirt, Dress, Pants, Jewelry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831877"/>
            <a:ext cx="50101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Clothing was the strongest revenue contributor, while Fall recorded the highest seasonal revenue. This suggests that category and seasonal performance should be considered when planning merchandising and promotional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2409825"/>
            <a:ext cx="914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Clothing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150" y="2409825"/>
            <a:ext cx="9810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$104,264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2686050"/>
            <a:ext cx="1171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Accessories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6825" y="2686050"/>
            <a:ext cx="914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$74,200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2962275"/>
            <a:ext cx="9715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Footwear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7300" y="2962275"/>
            <a:ext cx="9239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$36,093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3238500"/>
            <a:ext cx="1057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Outerwear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4925" y="3238500"/>
            <a:ext cx="876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$18,524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4343400"/>
            <a:ext cx="533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Fall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5875" y="4343400"/>
            <a:ext cx="8953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$60,018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4619625"/>
            <a:ext cx="762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Spring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6350" y="4619625"/>
            <a:ext cx="904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$58,679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025" y="4895850"/>
            <a:ext cx="762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Winter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6825" y="4895850"/>
            <a:ext cx="914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$58,607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025" y="5172075"/>
            <a:ext cx="8953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Summer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5400" y="5172075"/>
            <a:ext cx="8858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$55,777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86500" y="2154138"/>
            <a:ext cx="5143500" cy="1887735"/>
          </a:xfrm>
          <a:prstGeom prst="roundRect">
            <a:avLst>
              <a:gd name="adj" fmla="val 60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4270474"/>
            <a:ext cx="5143500" cy="1042987"/>
          </a:xfrm>
          <a:prstGeom prst="roundRect">
            <a:avLst>
              <a:gd name="adj" fmla="val 1095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757487"/>
            <a:ext cx="5143500" cy="6858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595687"/>
            <a:ext cx="5143500" cy="6858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433887"/>
            <a:ext cx="5143500" cy="6858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6096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Who Are the Customers?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347912"/>
            <a:ext cx="67508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Customer Segments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392263"/>
            <a:ext cx="5667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Customer Base 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706588"/>
            <a:ext cx="47625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The customer base is heavily concentrated in the Loyal segment based on the supplied previous-purchases measure, while relatively few customers fall into the New segment.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4470499"/>
            <a:ext cx="48387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991B1B"/>
                </a:solidFill>
                <a:latin typeface="Plus Jakarta Sans"/>
              </a:rPr>
              <a:t>Note:</a:t>
            </a:r>
            <a:r>
              <a:rPr sz="1125" b="0" i="0" u="none">
                <a:solidFill>
                  <a:srgbClr val="991B1B"/>
                </a:solidFill>
                <a:latin typeface="Plus Jakarta Sans"/>
              </a:rPr>
              <a:t> Customer segments are based on the supplied historical previous-purchase count rather than transaction history observed directly in this dataset.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2990850"/>
            <a:ext cx="7239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Loyal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2550" y="2957512"/>
            <a:ext cx="8286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3,116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829050"/>
            <a:ext cx="1095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Returning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4475" y="3795712"/>
            <a:ext cx="666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701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667250"/>
            <a:ext cx="6572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New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9725" y="4633912"/>
            <a:ext cx="5715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83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62225"/>
            <a:ext cx="5419725" cy="234315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86525" y="2424112"/>
            <a:ext cx="4943475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86525" y="3433762"/>
            <a:ext cx="4943475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Discounts &amp; Subscription Behaviour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800350"/>
            <a:ext cx="64883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Discounted vs Non-Discounted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495800"/>
            <a:ext cx="6179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Average purchase difference: $0.85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4443412"/>
            <a:ext cx="50387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Discounted purchases had a slightly lower average purchase amount and generated less total revenue than non-discounted purchases in this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9964" y="2890838"/>
            <a:ext cx="1209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1,053 (27%)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2895" y="2890838"/>
            <a:ext cx="1285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u="none" dirty="0">
                <a:solidFill>
                  <a:srgbClr val="64748B"/>
                </a:solidFill>
                <a:latin typeface="Plus Jakarta Sans"/>
              </a:rPr>
              <a:t>2,847 (73%)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694" y="3862387"/>
            <a:ext cx="1866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27.56% subscribed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11865" y="3842532"/>
            <a:ext cx="1857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 u="none" dirty="0">
                <a:solidFill>
                  <a:srgbClr val="64748B"/>
                </a:solidFill>
                <a:latin typeface="Plus Jakarta Sans"/>
              </a:rPr>
              <a:t>22.41% subscribed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171825"/>
            <a:ext cx="1952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Discounted Purchases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390900"/>
            <a:ext cx="1952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Revenue: $99,411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0125" y="3171825"/>
            <a:ext cx="1133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50" b="1" i="0" u="none">
                <a:solidFill>
                  <a:srgbClr val="0F172A"/>
                </a:solidFill>
                <a:latin typeface="Plus Jakarta Sans"/>
              </a:rPr>
              <a:t>$59.28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0125" y="3429000"/>
            <a:ext cx="1133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4748B"/>
                </a:solidFill>
                <a:latin typeface="Plus Jakarta Sans"/>
              </a:rPr>
              <a:t>Avg Purchase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876675"/>
            <a:ext cx="2405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Non-Discounted Purchases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4095750"/>
            <a:ext cx="2405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Revenue: $133,670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0125" y="3876675"/>
            <a:ext cx="1133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50" b="1" i="0" u="none">
                <a:solidFill>
                  <a:srgbClr val="0F172A"/>
                </a:solidFill>
                <a:latin typeface="Plus Jakarta Sans"/>
              </a:rPr>
              <a:t>$60.13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0125" y="4133850"/>
            <a:ext cx="1133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4748B"/>
                </a:solidFill>
                <a:latin typeface="Plus Jakarta Sans"/>
              </a:rPr>
              <a:t>Avg Purchase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6550" y="2624137"/>
            <a:ext cx="14001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Subscribers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1693" y="2624137"/>
            <a:ext cx="1488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25" b="1" i="0" u="none">
                <a:solidFill>
                  <a:srgbClr val="334155"/>
                </a:solidFill>
                <a:latin typeface="Plus Jakarta Sans"/>
              </a:rPr>
              <a:t>Non-Subscribers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694" y="3519487"/>
            <a:ext cx="221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Repeat Buyers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099" y="3518902"/>
            <a:ext cx="2202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Non-Repeat Buyers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024211"/>
            <a:ext cx="5238750" cy="1083766"/>
          </a:xfrm>
          <a:prstGeom prst="roundRect">
            <a:avLst>
              <a:gd name="adj" fmla="val 10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2024211"/>
            <a:ext cx="5238750" cy="1083766"/>
          </a:xfrm>
          <a:prstGeom prst="roundRect">
            <a:avLst>
              <a:gd name="adj" fmla="val 10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298477"/>
            <a:ext cx="5238750" cy="1083766"/>
          </a:xfrm>
          <a:prstGeom prst="roundRect">
            <a:avLst>
              <a:gd name="adj" fmla="val 10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298477"/>
            <a:ext cx="5238750" cy="1083766"/>
          </a:xfrm>
          <a:prstGeom prst="roundRect">
            <a:avLst>
              <a:gd name="adj" fmla="val 105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572744"/>
            <a:ext cx="10668000" cy="870495"/>
          </a:xfrm>
          <a:prstGeom prst="roundRect">
            <a:avLst>
              <a:gd name="adj" fmla="val 131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6096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224236"/>
            <a:ext cx="63507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1. Revenue is concentrated in Clothing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481411"/>
            <a:ext cx="49339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Clothing generated $104K, making it the strongest revenue category.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275" y="2224236"/>
            <a:ext cx="58007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2. Seasonal performance varies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275" y="2481411"/>
            <a:ext cx="5800725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Fall recorded the highest revenue at $60K.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498502"/>
            <a:ext cx="63507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Discounting does not correspond to higher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755677"/>
            <a:ext cx="49339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Average purchase amount was $59.28 for discounted versus $60.13 for non-discounted purchases.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3498502"/>
            <a:ext cx="58007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4. Subscription adoption is relatively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3755677"/>
            <a:ext cx="5800725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Only 27% of customers were subscribed.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772769"/>
            <a:ext cx="112299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5. Repeat buyers show stronger subscription adoption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5029944"/>
            <a:ext cx="11229975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27.56% of repeat buyers were subscribed compared with 22.41% of non-repeat buyers.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38300"/>
            <a:ext cx="10668000" cy="723900"/>
          </a:xfrm>
          <a:prstGeom prst="roundRect">
            <a:avLst>
              <a:gd name="adj" fmla="val 131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495550"/>
            <a:ext cx="10668000" cy="723900"/>
          </a:xfrm>
          <a:prstGeom prst="roundRect">
            <a:avLst>
              <a:gd name="adj" fmla="val 131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352800"/>
            <a:ext cx="10668000" cy="723900"/>
          </a:xfrm>
          <a:prstGeom prst="roundRect">
            <a:avLst>
              <a:gd name="adj" fmla="val 131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210050"/>
            <a:ext cx="10668000" cy="723900"/>
          </a:xfrm>
          <a:prstGeom prst="roundRect">
            <a:avLst>
              <a:gd name="adj" fmla="val 131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5067300"/>
            <a:ext cx="10668000" cy="723900"/>
          </a:xfrm>
          <a:prstGeom prst="roundRect">
            <a:avLst>
              <a:gd name="adj" fmla="val 131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2025" y="18002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2025" y="26574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2025" y="35147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2025" y="43719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2025" y="52292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2000" y="6096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1800225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Plus Jakarta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2657475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Plus Jakarta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514725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Plus Jakarta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4371975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Plus Jakarta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5229225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Plus Jakarta San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1125" y="1800225"/>
            <a:ext cx="91011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Increase subscription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1125" y="2019300"/>
            <a:ext cx="8667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Investigate barriers to subscription and test targeted subscription campaigns given the 27%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1125" y="2657475"/>
            <a:ext cx="10810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Focus on high-performing 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1125" y="2876550"/>
            <a:ext cx="10751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Use strong performance from Clothing and Accessories to inform merchandising, campaign planning and product promotion.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1125" y="3514725"/>
            <a:ext cx="10810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Target repeat 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1125" y="3733800"/>
            <a:ext cx="10691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Repeat buyers showed higher subscription adoption. Consider targeted retention and subscription campaigns for this group.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1125" y="4371975"/>
            <a:ext cx="10810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Review discount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1125" y="4591050"/>
            <a:ext cx="10810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Discounted purchases had a slightly lower average purchase amount. Evaluate promotions based on effectiveness and incremental value.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1125" y="5229225"/>
            <a:ext cx="10810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Incorporate seasonal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1125" y="5448300"/>
            <a:ext cx="10810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Use seasonal revenue patterns, particularly the stronger Fall performance, when planning future campaigns and inventory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167187"/>
            <a:ext cx="106680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167187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2252662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lus Jakarta San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85750" y="4405312"/>
            <a:ext cx="12763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FFFFF"/>
                </a:solidFill>
                <a:latin typeface="Plus Jakarta Sans"/>
              </a:rPr>
              <a:t>The analysis provides a data-driven view of customer behaviour that can support more targeted business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900362"/>
            <a:ext cx="68008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What the analysis showed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76587"/>
            <a:ext cx="5276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Customer revenue is strongest in Clothing and Accessories, Fall was the strongest season, subscription adoption remains relatively low, and repeat buyers show somewhat higher subscription adoption.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2900362"/>
            <a:ext cx="5943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What this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3176587"/>
            <a:ext cx="5276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There are opportunities to improve customer engagement, strengthen retention, optimise promotional activity and use high-performing categories and seasons more strategically.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578</Words>
  <Application>Microsoft Office PowerPoint</Application>
  <PresentationFormat>Widescreen</PresentationFormat>
  <Paragraphs>102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Arial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Oreoluwa Seriki</cp:lastModifiedBy>
  <cp:revision>2</cp:revision>
  <dcterms:created xsi:type="dcterms:W3CDTF">2013-01-27T09:14:16Z</dcterms:created>
  <dcterms:modified xsi:type="dcterms:W3CDTF">2026-10-08T14:33:37Z</dcterms:modified>
  <cp:category/>
</cp:coreProperties>
</file>